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D6E0FD-2506-53E4-D528-32560FC0A16A}" v="7" dt="2026-02-25T15:24:47.286"/>
    <p1510:client id="{DE0C185A-3DE1-C640-CEF1-7309CA30BB1A}" v="54" dt="2026-02-25T13:47:04.016"/>
    <p1510:client id="{F0DBB630-D9EB-A2B9-BB5E-1BB88AEEB308}" v="18" dt="2026-02-26T14:37:07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oš Pekár" userId="S::mpekar@ohpen.com::91d53fac-dd2d-4ede-8d9a-180e3f9eee94" providerId="AD" clId="Web-{DE0C185A-3DE1-C640-CEF1-7309CA30BB1A}"/>
    <pc:docChg chg="modSld">
      <pc:chgData name="Maroš Pekár" userId="S::mpekar@ohpen.com::91d53fac-dd2d-4ede-8d9a-180e3f9eee94" providerId="AD" clId="Web-{DE0C185A-3DE1-C640-CEF1-7309CA30BB1A}" dt="2026-02-25T13:47:04.016" v="41" actId="20577"/>
      <pc:docMkLst>
        <pc:docMk/>
      </pc:docMkLst>
      <pc:sldChg chg="addSp delSp modSp">
        <pc:chgData name="Maroš Pekár" userId="S::mpekar@ohpen.com::91d53fac-dd2d-4ede-8d9a-180e3f9eee94" providerId="AD" clId="Web-{DE0C185A-3DE1-C640-CEF1-7309CA30BB1A}" dt="2026-02-25T13:47:04.016" v="41" actId="20577"/>
        <pc:sldMkLst>
          <pc:docMk/>
          <pc:sldMk cId="0" sldId="256"/>
        </pc:sldMkLst>
        <pc:spChg chg="add mod">
          <ac:chgData name="Maroš Pekár" userId="S::mpekar@ohpen.com::91d53fac-dd2d-4ede-8d9a-180e3f9eee94" providerId="AD" clId="Web-{DE0C185A-3DE1-C640-CEF1-7309CA30BB1A}" dt="2026-02-25T13:46:36.438" v="28" actId="20577"/>
          <ac:spMkLst>
            <pc:docMk/>
            <pc:sldMk cId="0" sldId="256"/>
            <ac:spMk id="2" creationId="{1775685B-012E-617E-81C3-17C8C74490C5}"/>
          </ac:spMkLst>
        </pc:spChg>
        <pc:spChg chg="add del">
          <ac:chgData name="Maroš Pekár" userId="S::mpekar@ohpen.com::91d53fac-dd2d-4ede-8d9a-180e3f9eee94" providerId="AD" clId="Web-{DE0C185A-3DE1-C640-CEF1-7309CA30BB1A}" dt="2026-02-25T13:46:47.672" v="32"/>
          <ac:spMkLst>
            <pc:docMk/>
            <pc:sldMk cId="0" sldId="256"/>
            <ac:spMk id="3" creationId="{AA66A071-0829-DEA9-128F-F9C11B351E47}"/>
          </ac:spMkLst>
        </pc:spChg>
        <pc:spChg chg="add mod">
          <ac:chgData name="Maroš Pekár" userId="S::mpekar@ohpen.com::91d53fac-dd2d-4ede-8d9a-180e3f9eee94" providerId="AD" clId="Web-{DE0C185A-3DE1-C640-CEF1-7309CA30BB1A}" dt="2026-02-25T13:47:04.016" v="41" actId="20577"/>
          <ac:spMkLst>
            <pc:docMk/>
            <pc:sldMk cId="0" sldId="256"/>
            <ac:spMk id="4" creationId="{F22CBB24-8E27-9C39-760C-2F9657F5C319}"/>
          </ac:spMkLst>
        </pc:spChg>
        <pc:spChg chg="mod">
          <ac:chgData name="Maroš Pekár" userId="S::mpekar@ohpen.com::91d53fac-dd2d-4ede-8d9a-180e3f9eee94" providerId="AD" clId="Web-{DE0C185A-3DE1-C640-CEF1-7309CA30BB1A}" dt="2026-02-25T13:46:09.281" v="19" actId="20577"/>
          <ac:spMkLst>
            <pc:docMk/>
            <pc:sldMk cId="0" sldId="256"/>
            <ac:spMk id="182" creationId="{00000000-0000-0000-0000-000000000000}"/>
          </ac:spMkLst>
        </pc:spChg>
        <pc:spChg chg="mod">
          <ac:chgData name="Maroš Pekár" userId="S::mpekar@ohpen.com::91d53fac-dd2d-4ede-8d9a-180e3f9eee94" providerId="AD" clId="Web-{DE0C185A-3DE1-C640-CEF1-7309CA30BB1A}" dt="2026-02-25T13:33:53.396" v="1" actId="20577"/>
          <ac:spMkLst>
            <pc:docMk/>
            <pc:sldMk cId="0" sldId="256"/>
            <ac:spMk id="183" creationId="{00000000-0000-0000-0000-000000000000}"/>
          </ac:spMkLst>
        </pc:spChg>
        <pc:spChg chg="mod">
          <ac:chgData name="Maroš Pekár" userId="S::mpekar@ohpen.com::91d53fac-dd2d-4ede-8d9a-180e3f9eee94" providerId="AD" clId="Web-{DE0C185A-3DE1-C640-CEF1-7309CA30BB1A}" dt="2026-02-25T13:46:43.094" v="30" actId="14100"/>
          <ac:spMkLst>
            <pc:docMk/>
            <pc:sldMk cId="0" sldId="256"/>
            <ac:spMk id="186" creationId="{00000000-0000-0000-0000-000000000000}"/>
          </ac:spMkLst>
        </pc:spChg>
      </pc:sldChg>
    </pc:docChg>
  </pc:docChgLst>
  <pc:docChgLst>
    <pc:chgData name="Maroš Pekár" userId="S::mpekar@ohpen.com::91d53fac-dd2d-4ede-8d9a-180e3f9eee94" providerId="AD" clId="Web-{F0DBB630-D9EB-A2B9-BB5E-1BB88AEEB308}"/>
    <pc:docChg chg="modSld">
      <pc:chgData name="Maroš Pekár" userId="S::mpekar@ohpen.com::91d53fac-dd2d-4ede-8d9a-180e3f9eee94" providerId="AD" clId="Web-{F0DBB630-D9EB-A2B9-BB5E-1BB88AEEB308}" dt="2026-02-26T14:37:07.063" v="7" actId="20577"/>
      <pc:docMkLst>
        <pc:docMk/>
      </pc:docMkLst>
      <pc:sldChg chg="modSp">
        <pc:chgData name="Maroš Pekár" userId="S::mpekar@ohpen.com::91d53fac-dd2d-4ede-8d9a-180e3f9eee94" providerId="AD" clId="Web-{F0DBB630-D9EB-A2B9-BB5E-1BB88AEEB308}" dt="2026-02-26T14:25:33.375" v="3" actId="20577"/>
        <pc:sldMkLst>
          <pc:docMk/>
          <pc:sldMk cId="0" sldId="267"/>
        </pc:sldMkLst>
        <pc:spChg chg="mod">
          <ac:chgData name="Maroš Pekár" userId="S::mpekar@ohpen.com::91d53fac-dd2d-4ede-8d9a-180e3f9eee94" providerId="AD" clId="Web-{F0DBB630-D9EB-A2B9-BB5E-1BB88AEEB308}" dt="2026-02-26T14:25:33.375" v="3" actId="20577"/>
          <ac:spMkLst>
            <pc:docMk/>
            <pc:sldMk cId="0" sldId="267"/>
            <ac:spMk id="219" creationId="{00000000-0000-0000-0000-000000000000}"/>
          </ac:spMkLst>
        </pc:spChg>
      </pc:sldChg>
      <pc:sldChg chg="modSp">
        <pc:chgData name="Maroš Pekár" userId="S::mpekar@ohpen.com::91d53fac-dd2d-4ede-8d9a-180e3f9eee94" providerId="AD" clId="Web-{F0DBB630-D9EB-A2B9-BB5E-1BB88AEEB308}" dt="2026-02-26T14:37:07.063" v="7" actId="20577"/>
        <pc:sldMkLst>
          <pc:docMk/>
          <pc:sldMk cId="0" sldId="270"/>
        </pc:sldMkLst>
        <pc:spChg chg="mod">
          <ac:chgData name="Maroš Pekár" userId="S::mpekar@ohpen.com::91d53fac-dd2d-4ede-8d9a-180e3f9eee94" providerId="AD" clId="Web-{F0DBB630-D9EB-A2B9-BB5E-1BB88AEEB308}" dt="2026-02-26T14:37:07.063" v="7" actId="20577"/>
          <ac:spMkLst>
            <pc:docMk/>
            <pc:sldMk cId="0" sldId="270"/>
            <ac:spMk id="230" creationId="{00000000-0000-0000-0000-000000000000}"/>
          </ac:spMkLst>
        </pc:spChg>
      </pc:sldChg>
    </pc:docChg>
  </pc:docChgLst>
  <pc:docChgLst>
    <pc:chgData name="Maroš Pekár" userId="S::mpekar@ohpen.com::91d53fac-dd2d-4ede-8d9a-180e3f9eee94" providerId="AD" clId="Web-{39D6E0FD-2506-53E4-D528-32560FC0A16A}"/>
    <pc:docChg chg="modSld">
      <pc:chgData name="Maroš Pekár" userId="S::mpekar@ohpen.com::91d53fac-dd2d-4ede-8d9a-180e3f9eee94" providerId="AD" clId="Web-{39D6E0FD-2506-53E4-D528-32560FC0A16A}" dt="2026-02-25T15:23:28.083" v="2" actId="20577"/>
      <pc:docMkLst>
        <pc:docMk/>
      </pc:docMkLst>
      <pc:sldChg chg="modSp">
        <pc:chgData name="Maroš Pekár" userId="S::mpekar@ohpen.com::91d53fac-dd2d-4ede-8d9a-180e3f9eee94" providerId="AD" clId="Web-{39D6E0FD-2506-53E4-D528-32560FC0A16A}" dt="2026-02-25T15:23:28.083" v="2" actId="20577"/>
        <pc:sldMkLst>
          <pc:docMk/>
          <pc:sldMk cId="0" sldId="258"/>
        </pc:sldMkLst>
        <pc:spChg chg="mod">
          <ac:chgData name="Maroš Pekár" userId="S::mpekar@ohpen.com::91d53fac-dd2d-4ede-8d9a-180e3f9eee94" providerId="AD" clId="Web-{39D6E0FD-2506-53E4-D528-32560FC0A16A}" dt="2026-02-25T15:23:28.083" v="2" actId="20577"/>
          <ac:spMkLst>
            <pc:docMk/>
            <pc:sldMk cId="0" sldId="258"/>
            <ac:spMk id="19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7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79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80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81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91042A88-26A5-463E-8F13-BE330412966B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36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CE25E081-F245-4B32-8224-F3B751D41231}" type="slidenum">
              <a:rPr lang="en-US" sz="1200" b="0" strike="noStrike" spc="-1">
                <a:latin typeface="Arial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2"/>
          <p:cNvPicPr/>
          <p:nvPr/>
        </p:nvPicPr>
        <p:blipFill>
          <a:blip r:embed="rId14"/>
          <a:stretch/>
        </p:blipFill>
        <p:spPr>
          <a:xfrm>
            <a:off x="10800000" y="288720"/>
            <a:ext cx="927000" cy="359280"/>
          </a:xfrm>
          <a:prstGeom prst="rect">
            <a:avLst/>
          </a:prstGeom>
          <a:ln>
            <a:noFill/>
          </a:ln>
        </p:spPr>
      </p:pic>
      <p:grpSp>
        <p:nvGrpSpPr>
          <p:cNvPr id="15" name="Group 1"/>
          <p:cNvGrpSpPr/>
          <p:nvPr/>
        </p:nvGrpSpPr>
        <p:grpSpPr>
          <a:xfrm>
            <a:off x="2145600" y="-2292480"/>
            <a:ext cx="15825960" cy="10954800"/>
            <a:chOff x="2145600" y="-2292480"/>
            <a:chExt cx="15825960" cy="10954800"/>
          </a:xfrm>
        </p:grpSpPr>
        <p:sp>
          <p:nvSpPr>
            <p:cNvPr id="2" name="CustomShape 2"/>
            <p:cNvSpPr/>
            <p:nvPr/>
          </p:nvSpPr>
          <p:spPr>
            <a:xfrm>
              <a:off x="6496200" y="-2292480"/>
              <a:ext cx="4103280" cy="410328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" name="CustomShape 3"/>
            <p:cNvSpPr/>
            <p:nvPr/>
          </p:nvSpPr>
          <p:spPr>
            <a:xfrm>
              <a:off x="4678560" y="3279960"/>
              <a:ext cx="2159280" cy="215928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" name="CustomShape 4"/>
            <p:cNvSpPr/>
            <p:nvPr/>
          </p:nvSpPr>
          <p:spPr>
            <a:xfrm>
              <a:off x="6822720" y="4297320"/>
              <a:ext cx="1943280" cy="194328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" name="CustomShape 5"/>
            <p:cNvSpPr/>
            <p:nvPr/>
          </p:nvSpPr>
          <p:spPr>
            <a:xfrm>
              <a:off x="6248160" y="1640520"/>
              <a:ext cx="2699280" cy="269928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" name="CustomShape 6"/>
            <p:cNvSpPr/>
            <p:nvPr/>
          </p:nvSpPr>
          <p:spPr>
            <a:xfrm>
              <a:off x="8735760" y="4642200"/>
              <a:ext cx="1295280" cy="129528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" name="CustomShape 7"/>
            <p:cNvSpPr/>
            <p:nvPr/>
          </p:nvSpPr>
          <p:spPr>
            <a:xfrm>
              <a:off x="10274400" y="4195080"/>
              <a:ext cx="683280" cy="68328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" name="CustomShape 8"/>
            <p:cNvSpPr/>
            <p:nvPr/>
          </p:nvSpPr>
          <p:spPr>
            <a:xfrm>
              <a:off x="2145600" y="-595800"/>
              <a:ext cx="4319280" cy="431928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" name="CustomShape 9"/>
            <p:cNvSpPr/>
            <p:nvPr/>
          </p:nvSpPr>
          <p:spPr>
            <a:xfrm>
              <a:off x="7604280" y="-1704960"/>
              <a:ext cx="10367280" cy="10367280"/>
            </a:xfrm>
            <a:prstGeom prst="ellipse">
              <a:avLst/>
            </a:prstGeom>
            <a:noFill/>
            <a:ln>
              <a:solidFill>
                <a:srgbClr val="33FF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0" name="CustomShape 10"/>
          <p:cNvSpPr/>
          <p:nvPr/>
        </p:nvSpPr>
        <p:spPr>
          <a:xfrm>
            <a:off x="432000" y="6336000"/>
            <a:ext cx="2047320" cy="3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marL="936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1100" b="0" strike="noStrike" spc="-1">
                <a:solidFill>
                  <a:srgbClr val="FFFFFF"/>
                </a:solidFill>
                <a:latin typeface="Arial"/>
                <a:ea typeface="DejaVu Sans"/>
              </a:rPr>
              <a:t>© Ohpen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1" name="CustomShape 11"/>
          <p:cNvSpPr/>
          <p:nvPr/>
        </p:nvSpPr>
        <p:spPr>
          <a:xfrm>
            <a:off x="4522680" y="5180760"/>
            <a:ext cx="10367280" cy="10367280"/>
          </a:xfrm>
          <a:prstGeom prst="ellipse">
            <a:avLst/>
          </a:prstGeom>
          <a:noFill/>
          <a:ln>
            <a:solidFill>
              <a:srgbClr val="33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" name="PlaceHolder 1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3" name="PlaceHolder 1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Line 1"/>
          <p:cNvSpPr/>
          <p:nvPr/>
        </p:nvSpPr>
        <p:spPr>
          <a:xfrm>
            <a:off x="443880" y="729360"/>
            <a:ext cx="11304000" cy="0"/>
          </a:xfrm>
          <a:prstGeom prst="line">
            <a:avLst/>
          </a:prstGeom>
          <a:ln w="12600">
            <a:solidFill>
              <a:srgbClr val="33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51" name="Graphic 3"/>
          <p:cNvPicPr/>
          <p:nvPr/>
        </p:nvPicPr>
        <p:blipFill>
          <a:blip r:embed="rId14"/>
          <a:stretch/>
        </p:blipFill>
        <p:spPr>
          <a:xfrm>
            <a:off x="10800000" y="288720"/>
            <a:ext cx="927000" cy="359280"/>
          </a:xfrm>
          <a:prstGeom prst="rect">
            <a:avLst/>
          </a:prstGeom>
          <a:ln>
            <a:noFill/>
          </a:ln>
        </p:spPr>
      </p:pic>
      <p:sp>
        <p:nvSpPr>
          <p:cNvPr id="52" name="CustomShape 2"/>
          <p:cNvSpPr/>
          <p:nvPr/>
        </p:nvSpPr>
        <p:spPr>
          <a:xfrm>
            <a:off x="443880" y="288000"/>
            <a:ext cx="503280" cy="3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>
              <a:lnSpc>
                <a:spcPct val="100000"/>
              </a:lnSpc>
            </a:pPr>
            <a:fld id="{7AA24AC0-7D93-439F-89D2-A9DC61604F93}" type="slidenum">
              <a:rPr lang="en-SK" sz="1100" b="0" strike="noStrike" spc="-1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100" b="0" strike="noStrike" spc="-1">
              <a:latin typeface="Arial"/>
            </a:endParaRPr>
          </a:p>
        </p:txBody>
      </p:sp>
      <p:sp>
        <p:nvSpPr>
          <p:cNvPr id="53" name="CustomShape 3"/>
          <p:cNvSpPr/>
          <p:nvPr/>
        </p:nvSpPr>
        <p:spPr>
          <a:xfrm>
            <a:off x="7484760" y="1015920"/>
            <a:ext cx="7807320" cy="7807320"/>
          </a:xfrm>
          <a:prstGeom prst="ellipse">
            <a:avLst/>
          </a:prstGeom>
          <a:blipFill rotWithShape="0">
            <a:blip r:embed="rId15"/>
            <a:stretch>
              <a:fillRect/>
            </a:stretch>
          </a:blipFill>
          <a:ln>
            <a:noFill/>
          </a:ln>
          <a:effectLst>
            <a:outerShdw blurRad="38100" dist="12600" dir="54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4" name="CustomShape 4"/>
          <p:cNvSpPr/>
          <p:nvPr/>
        </p:nvSpPr>
        <p:spPr>
          <a:xfrm>
            <a:off x="7494480" y="2199240"/>
            <a:ext cx="1193040" cy="1193040"/>
          </a:xfrm>
          <a:prstGeom prst="ellipse">
            <a:avLst/>
          </a:prstGeom>
          <a:solidFill>
            <a:srgbClr val="00C08B"/>
          </a:solidFill>
          <a:ln>
            <a:noFill/>
          </a:ln>
          <a:effectLst>
            <a:outerShdw blurRad="63500" dist="254049" dir="8100000" algn="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5" name="CustomShape 5"/>
          <p:cNvSpPr/>
          <p:nvPr/>
        </p:nvSpPr>
        <p:spPr>
          <a:xfrm>
            <a:off x="432000" y="6336000"/>
            <a:ext cx="2047320" cy="3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marL="936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1100" b="0" strike="noStrike" spc="-1">
                <a:solidFill>
                  <a:srgbClr val="FFFFFF"/>
                </a:solidFill>
                <a:latin typeface="Arial"/>
                <a:ea typeface="DejaVu Sans"/>
              </a:rPr>
              <a:t>© Ohpen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7" name="PlaceHolder 7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Line 1"/>
          <p:cNvSpPr/>
          <p:nvPr/>
        </p:nvSpPr>
        <p:spPr>
          <a:xfrm>
            <a:off x="443880" y="729360"/>
            <a:ext cx="11304000" cy="0"/>
          </a:xfrm>
          <a:prstGeom prst="line">
            <a:avLst/>
          </a:prstGeom>
          <a:ln w="12600">
            <a:solidFill>
              <a:srgbClr val="33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5" name="Graphic 3"/>
          <p:cNvPicPr/>
          <p:nvPr/>
        </p:nvPicPr>
        <p:blipFill>
          <a:blip r:embed="rId14"/>
          <a:stretch/>
        </p:blipFill>
        <p:spPr>
          <a:xfrm>
            <a:off x="10800000" y="288720"/>
            <a:ext cx="927000" cy="359280"/>
          </a:xfrm>
          <a:prstGeom prst="rect">
            <a:avLst/>
          </a:prstGeom>
          <a:ln>
            <a:noFill/>
          </a:ln>
        </p:spPr>
      </p:pic>
      <p:sp>
        <p:nvSpPr>
          <p:cNvPr id="96" name="CustomShape 2"/>
          <p:cNvSpPr/>
          <p:nvPr/>
        </p:nvSpPr>
        <p:spPr>
          <a:xfrm>
            <a:off x="443880" y="288000"/>
            <a:ext cx="503280" cy="3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>
              <a:lnSpc>
                <a:spcPct val="100000"/>
              </a:lnSpc>
            </a:pPr>
            <a:fld id="{A7EE1DC6-02E7-4097-ADD9-B5F5ADA134FA}" type="slidenum">
              <a:rPr lang="en-SK" sz="1100" b="0" strike="noStrike" spc="-1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1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raphic 2"/>
          <p:cNvPicPr/>
          <p:nvPr/>
        </p:nvPicPr>
        <p:blipFill>
          <a:blip r:embed="rId14"/>
          <a:stretch/>
        </p:blipFill>
        <p:spPr>
          <a:xfrm>
            <a:off x="10800000" y="288720"/>
            <a:ext cx="927000" cy="359280"/>
          </a:xfrm>
          <a:prstGeom prst="rect">
            <a:avLst/>
          </a:prstGeom>
          <a:ln>
            <a:noFill/>
          </a:ln>
        </p:spPr>
      </p:pic>
      <p:sp>
        <p:nvSpPr>
          <p:cNvPr id="136" name="CustomShape 1"/>
          <p:cNvSpPr/>
          <p:nvPr/>
        </p:nvSpPr>
        <p:spPr>
          <a:xfrm>
            <a:off x="828000" y="2700000"/>
            <a:ext cx="10523520" cy="1549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3600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SK" sz="9600" b="0" strike="noStrike" spc="-1">
                <a:solidFill>
                  <a:srgbClr val="000000"/>
                </a:solidFill>
                <a:latin typeface="Arial"/>
                <a:ea typeface="DejaVu Sans"/>
              </a:rPr>
              <a:t>Thank you</a:t>
            </a:r>
            <a:endParaRPr lang="en-US" sz="9600" b="0" strike="noStrike" spc="-1">
              <a:latin typeface="Arial"/>
            </a:endParaRPr>
          </a:p>
        </p:txBody>
      </p:sp>
      <p:sp>
        <p:nvSpPr>
          <p:cNvPr id="137" name="CustomShape 2"/>
          <p:cNvSpPr/>
          <p:nvPr/>
        </p:nvSpPr>
        <p:spPr>
          <a:xfrm>
            <a:off x="828000" y="2700000"/>
            <a:ext cx="10523520" cy="15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SK" sz="9600" b="1" strike="noStrike" spc="-1">
                <a:solidFill>
                  <a:srgbClr val="FFFFFF"/>
                </a:solidFill>
                <a:latin typeface="Arial"/>
                <a:ea typeface="DejaVu Sans"/>
              </a:rPr>
              <a:t>Thank you</a:t>
            </a:r>
            <a:endParaRPr lang="en-US" sz="9600" b="0" strike="noStrike" spc="-1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pekar@ohpen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pekar/vact-2026-cv3" TargetMode="Externa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pekar/vact-2026-cv3" TargetMode="Externa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ustomShape 1"/>
          <p:cNvSpPr/>
          <p:nvPr/>
        </p:nvSpPr>
        <p:spPr>
          <a:xfrm>
            <a:off x="828000" y="3102840"/>
            <a:ext cx="6599520" cy="55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noAutofit/>
          </a:bodyPr>
          <a:lstStyle/>
          <a:p>
            <a:pPr marL="8890">
              <a:spcBef>
                <a:spcPts val="1001"/>
              </a:spcBef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Arial"/>
              </a:rPr>
              <a:t>AWS CloudFormation – EC2 instances &amp; EC2 autoscaling &amp; </a:t>
            </a:r>
            <a:r>
              <a:rPr lang="en-US" sz="1800" b="1" strike="noStrike" spc="-1">
                <a:solidFill>
                  <a:srgbClr val="FFFFFF"/>
                </a:solidFill>
                <a:latin typeface="Arial"/>
              </a:rPr>
              <a:t>load balancing</a:t>
            </a:r>
            <a:endParaRPr lang="en-US" sz="1800" b="0" strike="noStrike" spc="-1">
              <a:latin typeface="Arial"/>
            </a:endParaRPr>
          </a:p>
          <a:p>
            <a:pPr marL="936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183" name="CustomShape 2"/>
          <p:cNvSpPr/>
          <p:nvPr/>
        </p:nvSpPr>
        <p:spPr>
          <a:xfrm>
            <a:off x="432000" y="299160"/>
            <a:ext cx="2451960" cy="3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marL="889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SK" sz="1100" b="1" i="1" spc="-1">
                <a:solidFill>
                  <a:srgbClr val="FFFFFF"/>
                </a:solidFill>
                <a:latin typeface="Arial"/>
              </a:rPr>
              <a:t>02.03.2026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84" name="CustomShape 3"/>
          <p:cNvSpPr/>
          <p:nvPr/>
        </p:nvSpPr>
        <p:spPr>
          <a:xfrm>
            <a:off x="828000" y="1868040"/>
            <a:ext cx="6527880" cy="1943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5400" b="1" strike="noStrike" spc="-1">
                <a:solidFill>
                  <a:srgbClr val="FFFFFF"/>
                </a:solidFill>
                <a:latin typeface="Arial"/>
                <a:ea typeface="Arial"/>
              </a:rPr>
              <a:t>VaCT 2 - Cvičenie 3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185" name="CustomShape 4"/>
          <p:cNvSpPr/>
          <p:nvPr/>
        </p:nvSpPr>
        <p:spPr>
          <a:xfrm>
            <a:off x="1020240" y="5605560"/>
            <a:ext cx="1937520" cy="315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600" b="0" strike="noStrike" spc="-1">
                <a:solidFill>
                  <a:srgbClr val="FFFFFF"/>
                </a:solidFill>
                <a:latin typeface="Arial"/>
                <a:ea typeface="DejaVu Sans"/>
              </a:rPr>
              <a:t>Ing. Maroš Pekár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86" name="CustomShape 5"/>
          <p:cNvSpPr/>
          <p:nvPr/>
        </p:nvSpPr>
        <p:spPr>
          <a:xfrm>
            <a:off x="1020240" y="5922000"/>
            <a:ext cx="2027291" cy="5651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36000" rIns="216000" bIns="36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600" b="0" u="sng" strike="noStrike" spc="-1">
                <a:solidFill>
                  <a:srgbClr val="00C08A"/>
                </a:solidFill>
                <a:uFillTx/>
                <a:latin typeface="Arial"/>
                <a:ea typeface="DejaVu Sans"/>
                <a:hlinkClick r:id="rId3"/>
              </a:rPr>
              <a:t>mpekar@ohpen.com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187" name="Picture 7" descr="Logo&#10;&#10;Description automatically generated"/>
          <p:cNvPicPr/>
          <p:nvPr/>
        </p:nvPicPr>
        <p:blipFill>
          <a:blip r:embed="rId4"/>
          <a:stretch/>
        </p:blipFill>
        <p:spPr>
          <a:xfrm>
            <a:off x="10696680" y="853560"/>
            <a:ext cx="1198800" cy="676080"/>
          </a:xfrm>
          <a:prstGeom prst="rect">
            <a:avLst/>
          </a:prstGeom>
          <a:ln>
            <a:noFill/>
          </a:ln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1775685B-012E-617E-81C3-17C8C74490C5}"/>
              </a:ext>
            </a:extLst>
          </p:cNvPr>
          <p:cNvSpPr/>
          <p:nvPr/>
        </p:nvSpPr>
        <p:spPr>
          <a:xfrm>
            <a:off x="3472159" y="5605559"/>
            <a:ext cx="1937520" cy="31892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 anchor="t">
            <a:spAutoFit/>
          </a:bodyPr>
          <a:lstStyle/>
          <a:p>
            <a:r>
              <a:rPr lang="en-GB" sz="16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Ing. </a:t>
            </a:r>
            <a:r>
              <a:rPr lang="en-GB" sz="1600" spc="-1" dirty="0">
                <a:solidFill>
                  <a:srgbClr val="FFFFFF"/>
                </a:solidFill>
                <a:latin typeface="Arial"/>
                <a:ea typeface="DejaVu Sans"/>
              </a:rPr>
              <a:t>Ján </a:t>
            </a:r>
            <a:r>
              <a:rPr lang="en-GB" sz="1600" spc="-1" dirty="0" err="1">
                <a:solidFill>
                  <a:srgbClr val="FFFFFF"/>
                </a:solidFill>
                <a:latin typeface="Arial"/>
                <a:ea typeface="DejaVu Sans"/>
              </a:rPr>
              <a:t>Čá</a:t>
            </a:r>
            <a:r>
              <a:rPr lang="en-GB" sz="1600" spc="-1" dirty="0">
                <a:solidFill>
                  <a:srgbClr val="FFFFFF"/>
                </a:solidFill>
                <a:latin typeface="Arial"/>
                <a:ea typeface="DejaVu Sans"/>
              </a:rPr>
              <a:t>ni</a:t>
            </a:r>
            <a:endParaRPr lang="en-US" sz="1600" b="0" strike="noStrike" spc="-1" dirty="0">
              <a:latin typeface="Arial"/>
            </a:endParaRPr>
          </a:p>
        </p:txBody>
      </p:sp>
      <p:sp>
        <p:nvSpPr>
          <p:cNvPr id="4" name="CustomShape 5">
            <a:extLst>
              <a:ext uri="{FF2B5EF4-FFF2-40B4-BE49-F238E27FC236}">
                <a16:creationId xmlns:a16="http://schemas.microsoft.com/office/drawing/2014/main" id="{F22CBB24-8E27-9C39-760C-2F9657F5C319}"/>
              </a:ext>
            </a:extLst>
          </p:cNvPr>
          <p:cNvSpPr/>
          <p:nvPr/>
        </p:nvSpPr>
        <p:spPr>
          <a:xfrm>
            <a:off x="3472159" y="5921999"/>
            <a:ext cx="2027291" cy="31892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36000" rIns="216000" bIns="36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600" u="sng" spc="-1" dirty="0">
                <a:solidFill>
                  <a:srgbClr val="00C08A"/>
                </a:solidFill>
                <a:latin typeface="Arial"/>
                <a:ea typeface="DejaVu Sans"/>
                <a:hlinkClick r:id="rId3"/>
              </a:rPr>
              <a:t>jcani</a:t>
            </a:r>
            <a:r>
              <a:rPr lang="en-GB" sz="1600" b="0" u="sng" strike="noStrike" spc="-1" dirty="0">
                <a:solidFill>
                  <a:srgbClr val="00C08A"/>
                </a:solidFill>
                <a:uFillTx/>
                <a:latin typeface="Arial"/>
                <a:ea typeface="DejaVu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@ohpen.com</a:t>
            </a:r>
            <a:endParaRPr lang="en-US" sz="1600" b="0" strike="noStrike" spc="-1" dirty="0">
              <a:latin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:p15="http://schemas.microsoft.com/office/powerpoint/2012/main" xmlns="">
      <p:transition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1041840" y="2250000"/>
            <a:ext cx="5583960" cy="333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>
            <a:noAutofit/>
          </a:bodyPr>
          <a:lstStyle/>
          <a:p>
            <a:pPr marL="295200" indent="-28512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</a:rPr>
              <a:t>Vytvorenie Security Groups</a:t>
            </a:r>
            <a:endParaRPr lang="en-US" sz="1800" b="0" strike="noStrike" spc="-1">
              <a:latin typeface="Arial"/>
            </a:endParaRPr>
          </a:p>
          <a:p>
            <a:pPr marL="295200" indent="-28512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</a:rPr>
              <a:t>Vytvorenie Key Pair (pre SSH)</a:t>
            </a:r>
            <a:endParaRPr lang="en-US" sz="1800" b="0" strike="noStrike" spc="-1">
              <a:latin typeface="Arial"/>
            </a:endParaRPr>
          </a:p>
          <a:p>
            <a:pPr marL="295200" indent="-28512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</a:rPr>
              <a:t>Vytvorenie EC2 inštancií (public a private)</a:t>
            </a:r>
            <a:endParaRPr lang="en-US" sz="1800" b="0" strike="noStrike" spc="-1">
              <a:latin typeface="Arial"/>
            </a:endParaRPr>
          </a:p>
          <a:p>
            <a:pPr marL="295200" indent="-28512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</a:rPr>
              <a:t>Port forwarding pre SSH a HTTP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lang="en-US" sz="1800" b="0" strike="noStrike" spc="-1">
              <a:latin typeface="Arial"/>
            </a:endParaRPr>
          </a:p>
          <a:p>
            <a:pPr marL="295200" indent="-28512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</a:rPr>
              <a:t>Vytvorenie EC2 Launch Configuration</a:t>
            </a:r>
            <a:endParaRPr lang="en-US" sz="1800" b="0" strike="noStrike" spc="-1">
              <a:latin typeface="Arial"/>
            </a:endParaRPr>
          </a:p>
          <a:p>
            <a:pPr marL="295200" indent="-28512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</a:rPr>
              <a:t>Vytvorenie EC2 AutoScaling Group</a:t>
            </a:r>
            <a:endParaRPr lang="en-US" sz="1800" b="0" strike="noStrike" spc="-1">
              <a:latin typeface="Arial"/>
            </a:endParaRPr>
          </a:p>
          <a:p>
            <a:pPr marL="295200" indent="-28512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</a:rPr>
              <a:t>Vytvorenie EC2 Load Balancer &amp; Target Group</a:t>
            </a:r>
            <a:endParaRPr lang="en-US" sz="1800" b="0" strike="noStrike" spc="-1">
              <a:latin typeface="Arial"/>
            </a:endParaRPr>
          </a:p>
          <a:p>
            <a:pPr marL="936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 marL="936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189" name="CustomShape 2"/>
          <p:cNvSpPr/>
          <p:nvPr/>
        </p:nvSpPr>
        <p:spPr>
          <a:xfrm>
            <a:off x="828000" y="1029600"/>
            <a:ext cx="5220000" cy="100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>
            <a:normAutofit/>
          </a:bodyPr>
          <a:lstStyle/>
          <a:p>
            <a:pPr>
              <a:lnSpc>
                <a:spcPct val="100000"/>
              </a:lnSpc>
            </a:pPr>
            <a:r>
              <a:rPr lang="en-SK" sz="3600" b="1" strike="noStrike" spc="-1">
                <a:solidFill>
                  <a:srgbClr val="FFFFFF"/>
                </a:solidFill>
                <a:latin typeface="Arial"/>
                <a:ea typeface="Arial"/>
              </a:rPr>
              <a:t>Obsah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90" name="CustomShape 3"/>
          <p:cNvSpPr/>
          <p:nvPr/>
        </p:nvSpPr>
        <p:spPr>
          <a:xfrm>
            <a:off x="828000" y="288000"/>
            <a:ext cx="7842960" cy="3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marL="936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  <a:ea typeface="Arial"/>
              </a:rPr>
              <a:t>AWS CloudFormation – EC2 instances &amp; EC2 autoscaling &amp; load balancing</a:t>
            </a:r>
            <a:endParaRPr lang="en-US" sz="11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:p15="http://schemas.microsoft.com/office/powerpoint/2012/main" xmlns="">
      <p:transition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ustomShape 1"/>
          <p:cNvSpPr/>
          <p:nvPr/>
        </p:nvSpPr>
        <p:spPr>
          <a:xfrm>
            <a:off x="828000" y="288000"/>
            <a:ext cx="7842960" cy="3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marL="936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</a:rPr>
              <a:t>AWS CloudFormation – EC2 instances &amp; EC2 autoscaling &amp; load balancing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92" name="CustomShape 2"/>
          <p:cNvSpPr/>
          <p:nvPr/>
        </p:nvSpPr>
        <p:spPr>
          <a:xfrm>
            <a:off x="482760" y="986760"/>
            <a:ext cx="11041560" cy="342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strike="noStrike" spc="-1" dirty="0" err="1">
                <a:solidFill>
                  <a:srgbClr val="FFFFFF"/>
                </a:solidFill>
                <a:latin typeface="Arial"/>
                <a:ea typeface="DejaVu Sans"/>
              </a:rPr>
              <a:t>Úloha</a:t>
            </a:r>
            <a:r>
              <a:rPr lang="en-GB" sz="2000" b="1" strike="noStrike" spc="-1" dirty="0">
                <a:solidFill>
                  <a:srgbClr val="FFFFFF"/>
                </a:solidFill>
                <a:latin typeface="Arial"/>
                <a:ea typeface="DejaVu Sans"/>
              </a:rPr>
              <a:t> 1</a:t>
            </a:r>
            <a:endParaRPr lang="en-US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342900" indent="-342265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znova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si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vytvorte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CF stack "basic-network" s VPC, subnets, internet GW &amp; NAT GW, ...,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avšak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s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doplnenou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časťou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Outputs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spc="-1" dirty="0">
                <a:solidFill>
                  <a:srgbClr val="FFFFFF"/>
                </a:solidFill>
                <a:latin typeface="Arial"/>
                <a:ea typeface="Arial"/>
              </a:rPr>
              <a:t>(</a:t>
            </a:r>
            <a:r>
              <a:rPr lang="en-GB" sz="2000" spc="-1" dirty="0">
                <a:solidFill>
                  <a:srgbClr val="FFFFFF"/>
                </a:solidFill>
                <a:ea typeface="+mn-lt"/>
                <a:cs typeface="+mn-lt"/>
                <a:hlinkClick r:id="rId2"/>
              </a:rPr>
              <a:t>https://github.com/mpekar/vact-2026-cv3</a:t>
            </a:r>
            <a:r>
              <a:rPr lang="en-GB" sz="2000" spc="-1" dirty="0">
                <a:solidFill>
                  <a:srgbClr val="FFFFFF"/>
                </a:solidFill>
                <a:latin typeface="Arial"/>
                <a:ea typeface="Arial"/>
              </a:rPr>
              <a:t>)</a:t>
            </a:r>
            <a:endParaRPr lang="en-US" sz="2000" b="0" strike="noStrike" spc="-1" dirty="0">
              <a:latin typeface="Arial"/>
            </a:endParaRPr>
          </a:p>
          <a:p>
            <a:pPr marL="342900" indent="-342265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dané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výstupné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hodnoty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budeme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využívať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v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novom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CF stack-u </a:t>
            </a:r>
            <a:endParaRPr lang="en-US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193" name="CustomShape 3"/>
          <p:cNvSpPr/>
          <p:nvPr/>
        </p:nvSpPr>
        <p:spPr>
          <a:xfrm>
            <a:off x="478080" y="2980440"/>
            <a:ext cx="11034000" cy="308952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Outputs: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  VpcId: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    Value: !Ref Vpc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    Export: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      Name: !Sub ${AWS::StackName}-VpcId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  VpcCidr: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    Value: !Ref VpcCidr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    Export: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      Name: !Sub ${AWS::StackName}-VpcCidr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...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:p15="http://schemas.microsoft.com/office/powerpoint/2012/main" xmlns="">
      <p:transition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828000" y="288000"/>
            <a:ext cx="7842960" cy="3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marL="936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</a:rPr>
              <a:t>AWS CloudFormation – EC2 instances &amp; EC2 autoscaling &amp; load balancing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95" name="CustomShape 2"/>
          <p:cNvSpPr/>
          <p:nvPr/>
        </p:nvSpPr>
        <p:spPr>
          <a:xfrm>
            <a:off x="482760" y="986760"/>
            <a:ext cx="11041560" cy="5651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Úloha 2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vytvorte nový CF stack s názvom "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ec2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", ktorý bude mať nasledovné prostriedky (resources):</a:t>
            </a:r>
            <a:endParaRPr lang="en-US" sz="2000" b="0" strike="noStrike" spc="-1">
              <a:latin typeface="Arial"/>
            </a:endParaRPr>
          </a:p>
          <a:p>
            <a:pPr marL="799560" lvl="1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SecurityGroupForPublicInstances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(AWS::EC2::SecurityGroup)</a:t>
            </a:r>
            <a:endParaRPr lang="en-US" sz="2000" b="0" strike="noStrike" spc="-1">
              <a:latin typeface="Arial"/>
            </a:endParaRPr>
          </a:p>
          <a:p>
            <a:pPr marL="1256760" lvl="2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povoliť SSH pre vašu public IPv4 v smere Ingress</a:t>
            </a:r>
            <a:endParaRPr lang="en-US" sz="2000" b="0" strike="noStrike" spc="-1">
              <a:latin typeface="Arial"/>
            </a:endParaRPr>
          </a:p>
          <a:p>
            <a:pPr marL="1256760" lvl="2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povoliť HTTP, HTTPS pre celý svet v smere Egress</a:t>
            </a:r>
            <a:endParaRPr lang="en-US" sz="2000" b="0" strike="noStrike" spc="-1">
              <a:latin typeface="Arial"/>
            </a:endParaRPr>
          </a:p>
          <a:p>
            <a:pPr marL="799560" lvl="1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SecurityGroupForPrivateInstances</a:t>
            </a:r>
            <a:endParaRPr lang="en-US" sz="2000" b="0" strike="noStrike" spc="-1">
              <a:latin typeface="Arial"/>
            </a:endParaRPr>
          </a:p>
          <a:p>
            <a:pPr marL="1256760" lvl="2" indent="-342360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povoliť SSH, HTTP len pre VPC IPv4 CIDR v smere Ingress</a:t>
            </a:r>
            <a:endParaRPr lang="en-US" sz="2000" b="0" strike="noStrike" spc="-1">
              <a:latin typeface="Arial"/>
            </a:endParaRPr>
          </a:p>
          <a:p>
            <a:pPr marL="1256760" lvl="2" indent="-342360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povoliť HTTP, HTTPS pre celý svet v smere Egress</a:t>
            </a:r>
            <a:endParaRPr lang="en-US" sz="2000" b="0" strike="noStrike" spc="-1">
              <a:latin typeface="Arial"/>
            </a:endParaRPr>
          </a:p>
          <a:p>
            <a:pPr marL="799560" lvl="1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pre hodnoty, ktoré môžeme vytiahnúť z výstupov "base-network" stack-u je vhodné pouziť funkciu 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Fn::Import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Arial"/>
                <a:ea typeface="Arial"/>
              </a:rPr>
              <a:t>Tip: pozor na </a:t>
            </a:r>
            <a:r>
              <a:rPr lang="en-GB" sz="1800" b="0" i="1" strike="noStrike" spc="-1">
                <a:solidFill>
                  <a:srgbClr val="FFFFFF"/>
                </a:solidFill>
                <a:latin typeface="Arial"/>
                <a:ea typeface="Arial"/>
              </a:rPr>
              <a:t>FromPort </a:t>
            </a:r>
            <a:r>
              <a:rPr lang="en-GB" sz="1800" b="0" strike="noStrike" spc="-1">
                <a:solidFill>
                  <a:srgbClr val="FFFFFF"/>
                </a:solidFill>
                <a:latin typeface="Arial"/>
                <a:ea typeface="Arial"/>
              </a:rPr>
              <a:t>a </a:t>
            </a:r>
            <a:r>
              <a:rPr lang="en-GB" sz="1800" b="0" i="1" strike="noStrike" spc="-1">
                <a:solidFill>
                  <a:srgbClr val="FFFFFF"/>
                </a:solidFill>
                <a:latin typeface="Arial"/>
                <a:ea typeface="Arial"/>
              </a:rPr>
              <a:t>ToPort </a:t>
            </a:r>
            <a:r>
              <a:rPr lang="en-GB" sz="1800" b="0" strike="noStrike" spc="-1">
                <a:solidFill>
                  <a:srgbClr val="FFFFFF"/>
                </a:solidFill>
                <a:latin typeface="Arial"/>
                <a:ea typeface="Arial"/>
              </a:rPr>
              <a:t>- nejedná sa o dst a src porty, ale len o možnosť povoliť rozsah portov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Arial"/>
                <a:ea typeface="Arial"/>
              </a:rPr>
              <a:t>Tip: skrátený jednoriadkový zápis: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196" name="CustomShape 3"/>
          <p:cNvSpPr/>
          <p:nvPr/>
        </p:nvSpPr>
        <p:spPr>
          <a:xfrm>
            <a:off x="484200" y="5569920"/>
            <a:ext cx="11016720" cy="89496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SecurityGroupIngress: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  - { IpProtocol: tcp, FromPort: 80, ToPort: 80, CidrIp: { Fn::ImportValue: !Sub '${NetworkStackName}-VpcCidr' }, Description: 'HTTP – VPC' }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:p15="http://schemas.microsoft.com/office/powerpoint/2012/main" xmlns="">
      <p:transition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ustomShape 1"/>
          <p:cNvSpPr/>
          <p:nvPr/>
        </p:nvSpPr>
        <p:spPr>
          <a:xfrm>
            <a:off x="828000" y="288000"/>
            <a:ext cx="7842960" cy="3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marL="936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</a:rPr>
              <a:t>AWS CloudFormation – EC2 instances &amp; EC2 autoscaling &amp; load balancing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98" name="CustomShape 2"/>
          <p:cNvSpPr/>
          <p:nvPr/>
        </p:nvSpPr>
        <p:spPr>
          <a:xfrm>
            <a:off x="482760" y="986760"/>
            <a:ext cx="11041560" cy="3730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Úloha 3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aktualizujte CF stack s názvom "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ec2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" a pridajte nasledovné prostriedky (resources):</a:t>
            </a:r>
            <a:endParaRPr lang="en-US" sz="2000" b="0" strike="noStrike" spc="-1">
              <a:latin typeface="Arial"/>
            </a:endParaRPr>
          </a:p>
          <a:p>
            <a:pPr marL="799560" lvl="1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SSHKeyPair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(AWS::EC2::KeyPair)</a:t>
            </a:r>
            <a:endParaRPr lang="en-US" sz="2000" b="0" strike="noStrike" spc="-1">
              <a:latin typeface="Arial"/>
            </a:endParaRPr>
          </a:p>
          <a:p>
            <a:pPr marL="1256760" lvl="2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typ: rsa</a:t>
            </a:r>
            <a:endParaRPr lang="en-US" sz="20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privátny kľúč v pem formáte nájdete v 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AWS console -&gt; Systems Manager -&gt; Parameter Store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pod názvom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 </a:t>
            </a:r>
            <a:r>
              <a:rPr lang="en-GB" sz="2000" b="1" i="1" strike="noStrike" spc="-1">
                <a:solidFill>
                  <a:srgbClr val="FFFFFF"/>
                </a:solidFill>
                <a:latin typeface="Arial"/>
                <a:ea typeface="Arial"/>
              </a:rPr>
              <a:t>'/ec2/keypair/{key_pair_id}'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a zobrazíte pomocou 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Show Value</a:t>
            </a:r>
            <a:endParaRPr lang="en-US" sz="20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Linux/Mac - kľúč si skopírujte do súboru .pem a zmeňte mu práva (</a:t>
            </a:r>
            <a:r>
              <a:rPr lang="en-GB" sz="2000" b="0" strike="noStrike" spc="-1">
                <a:solidFill>
                  <a:srgbClr val="FFFFFF"/>
                </a:solidFill>
                <a:latin typeface="Consolas"/>
                <a:ea typeface="Arial"/>
              </a:rPr>
              <a:t>chmod 400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)</a:t>
            </a:r>
            <a:endParaRPr lang="en-US" sz="20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Windows – PuTTy - kľúč si treba skonvertovať do .ppk formátu (PuTTyGen)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</p:txBody>
      </p:sp>
      <p:pic>
        <p:nvPicPr>
          <p:cNvPr id="199" name="Picture 3"/>
          <p:cNvPicPr/>
          <p:nvPr/>
        </p:nvPicPr>
        <p:blipFill>
          <a:blip r:embed="rId2"/>
          <a:stretch/>
        </p:blipFill>
        <p:spPr>
          <a:xfrm>
            <a:off x="2563920" y="3926160"/>
            <a:ext cx="1859760" cy="2762640"/>
          </a:xfrm>
          <a:prstGeom prst="rect">
            <a:avLst/>
          </a:prstGeom>
          <a:ln>
            <a:noFill/>
          </a:ln>
        </p:spPr>
      </p:pic>
      <p:pic>
        <p:nvPicPr>
          <p:cNvPr id="200" name="Picture 4" descr="Graphical user interface, application&#10;&#10;Description automatically generated"/>
          <p:cNvPicPr/>
          <p:nvPr/>
        </p:nvPicPr>
        <p:blipFill>
          <a:blip r:embed="rId3"/>
          <a:stretch/>
        </p:blipFill>
        <p:spPr>
          <a:xfrm>
            <a:off x="6209280" y="3846240"/>
            <a:ext cx="2371320" cy="2935800"/>
          </a:xfrm>
          <a:prstGeom prst="rect">
            <a:avLst/>
          </a:prstGeom>
          <a:ln>
            <a:noFill/>
          </a:ln>
        </p:spPr>
      </p:pic>
      <p:sp>
        <p:nvSpPr>
          <p:cNvPr id="201" name="CustomShape 3"/>
          <p:cNvSpPr/>
          <p:nvPr/>
        </p:nvSpPr>
        <p:spPr>
          <a:xfrm flipV="1">
            <a:off x="2564640" y="6477480"/>
            <a:ext cx="1395720" cy="211680"/>
          </a:xfrm>
          <a:prstGeom prst="rect">
            <a:avLst/>
          </a:prstGeom>
          <a:noFill/>
          <a:ln w="28440">
            <a:solidFill>
              <a:srgbClr val="FF0000"/>
            </a:solidFill>
          </a:ln>
          <a:effectLst>
            <a:outerShdw blurRad="38100" dist="12600" dir="54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" name="CustomShape 4"/>
          <p:cNvSpPr/>
          <p:nvPr/>
        </p:nvSpPr>
        <p:spPr>
          <a:xfrm flipV="1">
            <a:off x="6211800" y="6184440"/>
            <a:ext cx="653040" cy="478800"/>
          </a:xfrm>
          <a:prstGeom prst="rect">
            <a:avLst/>
          </a:prstGeom>
          <a:noFill/>
          <a:ln w="28440">
            <a:solidFill>
              <a:srgbClr val="FF0000"/>
            </a:solidFill>
          </a:ln>
          <a:effectLst>
            <a:outerShdw blurRad="38100" dist="12600" dir="54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:p15="http://schemas.microsoft.com/office/powerpoint/2012/main" xmlns="">
      <p:transition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ustomShape 1"/>
          <p:cNvSpPr/>
          <p:nvPr/>
        </p:nvSpPr>
        <p:spPr>
          <a:xfrm>
            <a:off x="828000" y="288000"/>
            <a:ext cx="7842960" cy="3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marL="936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</a:rPr>
              <a:t>AWS CloudFormation – EC2 instances &amp; EC2 autoscaling &amp; load balancing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04" name="CustomShape 2"/>
          <p:cNvSpPr/>
          <p:nvPr/>
        </p:nvSpPr>
        <p:spPr>
          <a:xfrm>
            <a:off x="482760" y="986760"/>
            <a:ext cx="11041560" cy="556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Úloha 4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aktualizujte CF stack s názvom "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ec2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" a pridajte nasledovné prostriedky (resources):</a:t>
            </a:r>
            <a:endParaRPr lang="en-US" sz="2000" b="0" strike="noStrike" spc="-1">
              <a:latin typeface="Arial"/>
            </a:endParaRPr>
          </a:p>
          <a:p>
            <a:pPr marL="799560" lvl="1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PublicInstanceA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(AWS::EC2::Instance)</a:t>
            </a:r>
            <a:endParaRPr lang="en-US" sz="2000" b="0" strike="noStrike" spc="-1">
              <a:latin typeface="Arial"/>
            </a:endParaRPr>
          </a:p>
          <a:p>
            <a:pPr marL="1256760" lvl="2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využite vopred pripravené parametre (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ImageId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, 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InstanceType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, 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IamInstanceProfileName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)</a:t>
            </a:r>
            <a:endParaRPr lang="en-US" sz="2000" b="0" strike="noStrike" spc="-1">
              <a:latin typeface="Arial"/>
            </a:endParaRPr>
          </a:p>
          <a:p>
            <a:pPr marL="1256760" lvl="2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IamInstanceProfileName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si nájdete v 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AWS Console -&gt; IAM -&gt; Roles -&gt; </a:t>
            </a:r>
            <a:r>
              <a:rPr lang="en-GB" sz="2000" b="1" i="1" strike="noStrike" spc="-1">
                <a:solidFill>
                  <a:srgbClr val="FFFFFF"/>
                </a:solidFill>
                <a:latin typeface="Arial"/>
                <a:ea typeface="Arial"/>
              </a:rPr>
              <a:t>AmazonSSMRoleForInstancesQuickSetup</a:t>
            </a:r>
            <a:endParaRPr lang="en-US" sz="2000" b="0" strike="noStrike" spc="-1">
              <a:latin typeface="Arial"/>
            </a:endParaRPr>
          </a:p>
          <a:p>
            <a:pPr marL="1256760" lvl="2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Availability Zone = 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A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 (index 0 pri použití funkcií </a:t>
            </a:r>
            <a:r>
              <a:rPr lang="en-GB" sz="2000" b="0" i="1" strike="noStrike" spc="-1">
                <a:solidFill>
                  <a:srgbClr val="FFFFFF"/>
                </a:solidFill>
                <a:latin typeface="Arial"/>
                <a:ea typeface="Arial"/>
              </a:rPr>
              <a:t>Fn::Select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 a </a:t>
            </a:r>
            <a:r>
              <a:rPr lang="en-GB" sz="2000" b="0" i="1" strike="noStrike" spc="-1">
                <a:solidFill>
                  <a:srgbClr val="FFFFFF"/>
                </a:solidFill>
                <a:latin typeface="Arial"/>
                <a:ea typeface="Arial"/>
              </a:rPr>
              <a:t>Fn::GetAZs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)</a:t>
            </a:r>
            <a:endParaRPr lang="en-US" sz="2000" b="0" strike="noStrike" spc="-1">
              <a:latin typeface="Arial"/>
            </a:endParaRPr>
          </a:p>
          <a:p>
            <a:pPr marL="1256760" lvl="2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využite vytvorenú security group 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SecurityGroupForPublicInstances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a 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SSHKeyPair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205" name="CustomShape 3"/>
          <p:cNvSpPr/>
          <p:nvPr/>
        </p:nvSpPr>
        <p:spPr>
          <a:xfrm>
            <a:off x="483480" y="4584960"/>
            <a:ext cx="3981960" cy="171792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BlockDeviceMappings: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  - DeviceName: /dev/xvda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    Ebs: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      VolumeType: gp2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      VolumeSize: 30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      Encrypted: true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06" name="Picture 6"/>
          <p:cNvPicPr/>
          <p:nvPr/>
        </p:nvPicPr>
        <p:blipFill>
          <a:blip r:embed="rId2"/>
          <a:stretch/>
        </p:blipFill>
        <p:spPr>
          <a:xfrm>
            <a:off x="4959000" y="4511160"/>
            <a:ext cx="6565680" cy="1885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:p15="http://schemas.microsoft.com/office/powerpoint/2012/main" xmlns="">
      <p:transition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ustomShape 1"/>
          <p:cNvSpPr/>
          <p:nvPr/>
        </p:nvSpPr>
        <p:spPr>
          <a:xfrm>
            <a:off x="828000" y="288000"/>
            <a:ext cx="7842960" cy="3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marL="936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</a:rPr>
              <a:t>AWS CloudFormation – EC2 instances &amp; EC2 autoscaling &amp; load balancing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08" name="CustomShape 2"/>
          <p:cNvSpPr/>
          <p:nvPr/>
        </p:nvSpPr>
        <p:spPr>
          <a:xfrm>
            <a:off x="482760" y="986760"/>
            <a:ext cx="11041560" cy="3730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Úloha 5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aktualizujte CF stack s názvom "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ec2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" a pridajte nasledovné prostriedky (resources):</a:t>
            </a:r>
            <a:endParaRPr lang="en-US" sz="2000" b="0" strike="noStrike" spc="-1">
              <a:latin typeface="Arial"/>
            </a:endParaRPr>
          </a:p>
          <a:p>
            <a:pPr marL="799560" lvl="1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PrivateInstanceA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a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 PrivateInstanceB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(Private subnet 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B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)</a:t>
            </a:r>
            <a:endParaRPr lang="en-US" sz="2000" b="0" strike="noStrike" spc="-1">
              <a:latin typeface="Arial"/>
            </a:endParaRPr>
          </a:p>
          <a:p>
            <a:pPr marL="1256760" lvl="2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rovnaké vlastnosti (properties) ako Public inštancia, okrem:</a:t>
            </a:r>
            <a:endParaRPr lang="en-US" sz="2000" b="0" strike="noStrike" spc="-1">
              <a:latin typeface="Arial"/>
            </a:endParaRPr>
          </a:p>
          <a:p>
            <a:pPr marL="1713960" lvl="3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Security group</a:t>
            </a:r>
            <a:endParaRPr lang="en-US" sz="2000" b="0" strike="noStrike" spc="-1">
              <a:latin typeface="Arial"/>
            </a:endParaRPr>
          </a:p>
          <a:p>
            <a:pPr marL="1713960" lvl="3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Subnet</a:t>
            </a:r>
            <a:endParaRPr lang="en-US" sz="2000" b="0" strike="noStrike" spc="-1">
              <a:latin typeface="Arial"/>
            </a:endParaRPr>
          </a:p>
          <a:p>
            <a:pPr marL="1713960" lvl="3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UserData – nainštalujeme 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httpd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balík</a:t>
            </a:r>
            <a:endParaRPr lang="en-US" sz="2000" b="0" strike="noStrike" spc="-1">
              <a:latin typeface="Arial"/>
            </a:endParaRPr>
          </a:p>
          <a:p>
            <a:pPr marL="1713960" lvl="3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a samozrejme Tag Name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209" name="CustomShape 3"/>
          <p:cNvSpPr/>
          <p:nvPr/>
        </p:nvSpPr>
        <p:spPr>
          <a:xfrm>
            <a:off x="576720" y="4194360"/>
            <a:ext cx="11040120" cy="226656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UserData: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  Fn::Base64: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    |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    #!/bin/bash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    yum -y update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    yum -y install httpd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    systemctl enable httpd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    systemctl start httpd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:p15="http://schemas.microsoft.com/office/powerpoint/2012/main" xmlns="">
      <p:transition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CustomShape 1"/>
          <p:cNvSpPr/>
          <p:nvPr/>
        </p:nvSpPr>
        <p:spPr>
          <a:xfrm>
            <a:off x="828000" y="288000"/>
            <a:ext cx="7842960" cy="3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marL="936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</a:rPr>
              <a:t>AWS CloudFormation – EC2 instances &amp; EC2 autoscaling &amp; load balancing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482760" y="986760"/>
            <a:ext cx="11041560" cy="522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Úloha 6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pripojte sa na Public inštanciu pomocou SSH ako 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ec2-user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(použite svoj privátny kľúč)</a:t>
            </a:r>
            <a:endParaRPr lang="en-US" sz="20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povoľte IP forwarding</a:t>
            </a:r>
            <a:endParaRPr lang="en-US" sz="20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pomocou </a:t>
            </a:r>
            <a:r>
              <a:rPr lang="en-GB" sz="2000" b="0" i="1" strike="noStrike" spc="-1">
                <a:solidFill>
                  <a:srgbClr val="FFFFFF"/>
                </a:solidFill>
                <a:latin typeface="Arial"/>
                <a:ea typeface="Arial"/>
              </a:rPr>
              <a:t>iptables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(table </a:t>
            </a:r>
            <a:r>
              <a:rPr lang="en-GB" sz="2000" b="0" i="1" strike="noStrike" spc="-1">
                <a:solidFill>
                  <a:srgbClr val="FFFFFF"/>
                </a:solidFill>
                <a:latin typeface="Arial"/>
                <a:ea typeface="Arial"/>
              </a:rPr>
              <a:t>nat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) nastavte port forwarding pre SSH a HTTP na privátne inštancie</a:t>
            </a:r>
            <a:endParaRPr lang="en-US" sz="2000" b="0" strike="noStrike" spc="-1">
              <a:latin typeface="Arial"/>
            </a:endParaRPr>
          </a:p>
          <a:p>
            <a:pPr marL="799560" lvl="1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2222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--&gt; 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22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privátnej inštancie A</a:t>
            </a:r>
            <a:endParaRPr lang="en-US" sz="2000" b="0" strike="noStrike" spc="-1">
              <a:latin typeface="Arial"/>
            </a:endParaRPr>
          </a:p>
          <a:p>
            <a:pPr marL="799560" lvl="1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2223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--&gt; 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22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 privátnej inštancie B</a:t>
            </a:r>
            <a:endParaRPr lang="en-US" sz="2000" b="0" strike="noStrike" spc="-1">
              <a:latin typeface="Arial"/>
            </a:endParaRPr>
          </a:p>
          <a:p>
            <a:pPr marL="799560" lvl="1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8080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--&gt; 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80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privátnej inštancie A</a:t>
            </a:r>
            <a:endParaRPr lang="en-US" sz="2000" b="0" strike="noStrike" spc="-1">
              <a:latin typeface="Arial"/>
            </a:endParaRPr>
          </a:p>
          <a:p>
            <a:pPr marL="799560" lvl="1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8081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--&gt; 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80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privátnej inštancie B</a:t>
            </a:r>
            <a:endParaRPr lang="en-US" sz="2000" b="0" strike="noStrike" spc="-1">
              <a:latin typeface="Arial"/>
            </a:endParaRPr>
          </a:p>
          <a:p>
            <a:pPr marL="799560" lvl="1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Pozor! Do </a:t>
            </a:r>
            <a:r>
              <a:rPr lang="en-GB" sz="2000" b="0" i="1" strike="noStrike" spc="-1">
                <a:solidFill>
                  <a:srgbClr val="FFFFFF"/>
                </a:solidFill>
                <a:latin typeface="Arial"/>
                <a:ea typeface="Arial"/>
              </a:rPr>
              <a:t>PREROUTING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pravidla nedávajte dst IP public IP danej inštancie (AWS robí v pozadí taktiež NAT z public Elastic IP na privátnu IP našej public inštancie)</a:t>
            </a:r>
            <a:endParaRPr lang="en-US" sz="2000" b="0" strike="noStrike" spc="-1">
              <a:latin typeface="Arial"/>
            </a:endParaRPr>
          </a:p>
          <a:p>
            <a:pPr marL="799560" lvl="1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do </a:t>
            </a:r>
            <a:r>
              <a:rPr lang="en-GB" sz="2000" b="0" i="1" strike="noStrike" spc="-1">
                <a:solidFill>
                  <a:srgbClr val="FFFFFF"/>
                </a:solidFill>
                <a:latin typeface="Arial"/>
                <a:ea typeface="Arial"/>
              </a:rPr>
              <a:t>POSTROUTING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môžete dať presný source preklad alebo jednoduchšie len 1 pravidlo tzv. </a:t>
            </a:r>
            <a:r>
              <a:rPr lang="en-GB" sz="2000" b="0" i="1" strike="noStrike" spc="-1">
                <a:solidFill>
                  <a:srgbClr val="FFFFFF"/>
                </a:solidFill>
                <a:latin typeface="Arial"/>
                <a:ea typeface="Arial"/>
              </a:rPr>
              <a:t>MASQUARADE</a:t>
            </a:r>
            <a:endParaRPr lang="en-US" sz="20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pridajte aj príslušné pravidlá do security groups...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# echo 1 &gt; /proc/sys/net/ipv4/ip_forward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:p15="http://schemas.microsoft.com/office/powerpoint/2012/main" xmlns="">
      <p:transition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CustomShape 1"/>
          <p:cNvSpPr/>
          <p:nvPr/>
        </p:nvSpPr>
        <p:spPr>
          <a:xfrm>
            <a:off x="828000" y="288000"/>
            <a:ext cx="7842960" cy="3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marL="936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</a:rPr>
              <a:t>AWS CloudFormation – EC2 instances &amp; EC2 autoscaling &amp; load balancing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13" name="CustomShape 2"/>
          <p:cNvSpPr/>
          <p:nvPr/>
        </p:nvSpPr>
        <p:spPr>
          <a:xfrm>
            <a:off x="482760" y="986760"/>
            <a:ext cx="11041560" cy="4035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Úloha 6 – pokr.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pridajte aj príslušné pravidlá do security groups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799560" lvl="1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2222, 2223, 8080, 8081 do Public SG v Ingress smere pre vašu public IP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799560" lvl="1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22 do Public SG v Egress smere pre VPC CIDR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799560" lvl="1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privátna SG by mala byť už pripravená (povolené 22 v Ingress smere pre VPC CIDR)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:p15="http://schemas.microsoft.com/office/powerpoint/2012/main" xmlns="">
      <p:transition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ustomShape 1"/>
          <p:cNvSpPr/>
          <p:nvPr/>
        </p:nvSpPr>
        <p:spPr>
          <a:xfrm>
            <a:off x="828000" y="288000"/>
            <a:ext cx="7842960" cy="3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marL="936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</a:rPr>
              <a:t>AWS CloudFormation – EC2 instances &amp; EC2 autoscaling &amp; load balancing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15" name="CustomShape 2"/>
          <p:cNvSpPr/>
          <p:nvPr/>
        </p:nvSpPr>
        <p:spPr>
          <a:xfrm>
            <a:off x="482760" y="986760"/>
            <a:ext cx="11041560" cy="4035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Úloha 7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otestujte pripojenie na privátne inštancie pomocou SSH (porty 2222 a 2223)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otestujte webstránky privátnych inštancií pomocou browser-a (8080 a 8081)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môžete skúsiť aj pripojenie pomocou AWS SSM Session Manager agenta na akúkoľvek inštanciu 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AWS EC2 Console -&gt; Instance -&gt; Connect -&gt; Session Manager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  (alternatíva k SSH, vhodné ak by ste sa napríklad "odstrihli" od SSH, ale aj ďalšie výhody)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:p15="http://schemas.microsoft.com/office/powerpoint/2012/main" xmlns="">
      <p:transition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ustomShape 1"/>
          <p:cNvSpPr/>
          <p:nvPr/>
        </p:nvSpPr>
        <p:spPr>
          <a:xfrm>
            <a:off x="828000" y="288000"/>
            <a:ext cx="7842960" cy="3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marL="936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</a:rPr>
              <a:t>AWS CloudFormation – EC2 instances &amp; EC2 autoscaling &amp; load balancing</a:t>
            </a:r>
            <a:endParaRPr lang="en-US" sz="1100" b="0" strike="noStrike" spc="-1">
              <a:latin typeface="Arial"/>
            </a:endParaRPr>
          </a:p>
        </p:txBody>
      </p:sp>
      <p:pic>
        <p:nvPicPr>
          <p:cNvPr id="217" name="Picture 3"/>
          <p:cNvPicPr/>
          <p:nvPr/>
        </p:nvPicPr>
        <p:blipFill>
          <a:blip r:embed="rId2"/>
          <a:stretch/>
        </p:blipFill>
        <p:spPr>
          <a:xfrm>
            <a:off x="2366640" y="901440"/>
            <a:ext cx="7451280" cy="5705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:p15="http://schemas.microsoft.com/office/powerpoint/2012/main" xmlns="">
      <p:transition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ustomShape 1"/>
          <p:cNvSpPr/>
          <p:nvPr/>
        </p:nvSpPr>
        <p:spPr>
          <a:xfrm>
            <a:off x="828000" y="288000"/>
            <a:ext cx="7842960" cy="3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marL="936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</a:rPr>
              <a:t>AWS CloudFormation – EC2 instances &amp; EC2 autoscaling &amp; load balancing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19" name="CustomShape 2"/>
          <p:cNvSpPr/>
          <p:nvPr/>
        </p:nvSpPr>
        <p:spPr>
          <a:xfrm>
            <a:off x="482760" y="986760"/>
            <a:ext cx="11041560" cy="6779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Úloha</a:t>
            </a:r>
            <a:r>
              <a:rPr lang="en-GB" sz="20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8</a:t>
            </a:r>
            <a:endParaRPr lang="en-US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342900" indent="-342265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aktualizujte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CF stack s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názvom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"</a:t>
            </a:r>
            <a:r>
              <a:rPr lang="en-GB" sz="20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ec2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" a</a:t>
            </a:r>
            <a:endParaRPr lang="en-US" sz="2000" b="0" strike="noStrike" spc="-1" dirty="0">
              <a:latin typeface="Arial"/>
            </a:endParaRPr>
          </a:p>
          <a:p>
            <a:pPr marL="799465" lvl="1" indent="-342265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odstráňte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PrivateInstanceA</a:t>
            </a:r>
            <a:r>
              <a:rPr lang="en-GB" sz="20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a</a:t>
            </a:r>
            <a:r>
              <a:rPr lang="en-GB" sz="20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 </a:t>
            </a:r>
            <a:r>
              <a:rPr lang="en-GB" sz="20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PrivateInstanceB</a:t>
            </a:r>
            <a:r>
              <a:rPr lang="en-GB" sz="20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(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napr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.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zakomentovať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ctrl + / 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)</a:t>
            </a:r>
            <a:endParaRPr lang="en-US" sz="2000" b="0" strike="noStrike" spc="-1" dirty="0">
              <a:latin typeface="Arial"/>
            </a:endParaRPr>
          </a:p>
          <a:p>
            <a:pPr marL="799465" lvl="1" indent="-342265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pridajte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 </a:t>
            </a:r>
            <a:r>
              <a:rPr lang="en-GB" sz="20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PrivateLaunchConfiguration</a:t>
            </a:r>
            <a:r>
              <a:rPr lang="en-GB" sz="20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(AWS::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AutoScaling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::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LaunchConfiguration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)</a:t>
            </a:r>
            <a:endParaRPr lang="en-US" sz="2000" b="0" strike="noStrike" spc="-1" dirty="0">
              <a:latin typeface="Arial"/>
            </a:endParaRPr>
          </a:p>
          <a:p>
            <a:pPr marL="1256665" lvl="2" indent="-342265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vlastnosti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(properties)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budú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ako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privátne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inštancie</a:t>
            </a:r>
            <a:endParaRPr lang="en-US" sz="2000" b="0" strike="noStrike" spc="-1" dirty="0" err="1">
              <a:latin typeface="Arial"/>
            </a:endParaRPr>
          </a:p>
          <a:p>
            <a:pPr marL="1256665" lvl="2" indent="-342265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UserData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si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však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skopírujte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z </a:t>
            </a:r>
            <a:r>
              <a:rPr lang="en-GB" sz="2000" b="0" u="sng" strike="noStrike" spc="-1" dirty="0">
                <a:solidFill>
                  <a:srgbClr val="00C08A"/>
                </a:solidFill>
                <a:uFillTx/>
                <a:latin typeface="Arial"/>
                <a:ea typeface="Arial"/>
                <a:hlinkClick r:id="rId2"/>
              </a:rPr>
              <a:t>https://github.com/mpekar/</a:t>
            </a:r>
            <a:r>
              <a:rPr lang="en-GB" sz="2000" u="sng" spc="-1" dirty="0">
                <a:solidFill>
                  <a:srgbClr val="00C08A"/>
                </a:solidFill>
                <a:latin typeface="Arial"/>
                <a:ea typeface="Arial"/>
                <a:hlinkClick r:id="rId2"/>
              </a:rPr>
              <a:t>vact-2026-cv3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(PHP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webstránka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)</a:t>
            </a:r>
            <a:endParaRPr lang="en-US" sz="2000" b="0" strike="noStrike" spc="-1" dirty="0">
              <a:latin typeface="Arial"/>
            </a:endParaRPr>
          </a:p>
          <a:p>
            <a:pPr marL="799465" lvl="1" indent="-342265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pridajte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 </a:t>
            </a:r>
            <a:r>
              <a:rPr lang="en-GB" sz="20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PrivateAutoScalingGroup</a:t>
            </a:r>
            <a:r>
              <a:rPr lang="en-GB" sz="20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(AWS::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AutoScaling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::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AutoScalingGroup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)</a:t>
            </a:r>
            <a:endParaRPr lang="en-US" sz="2000" b="0" strike="noStrike" spc="-1" dirty="0">
              <a:latin typeface="Arial"/>
            </a:endParaRPr>
          </a:p>
          <a:p>
            <a:pPr marL="1256665" lvl="2" indent="-342265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property </a:t>
            </a:r>
            <a:r>
              <a:rPr lang="en-GB" sz="20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VPCZoneIdentifier</a:t>
            </a:r>
            <a:r>
              <a:rPr lang="en-GB" sz="20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(v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podstate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Subnet) -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použite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všetky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3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privátne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(ABC)</a:t>
            </a:r>
            <a:endParaRPr lang="en-US" sz="2000" b="0" strike="noStrike" spc="-1" dirty="0">
              <a:latin typeface="Arial"/>
            </a:endParaRPr>
          </a:p>
          <a:p>
            <a:pPr marL="1256665" lvl="2" indent="-342265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ak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pridávate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tagy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,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tak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okrem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Key Value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musí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byť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aj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 </a:t>
            </a:r>
            <a:r>
              <a:rPr lang="en-GB" sz="20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PropagateAtLaunch</a:t>
            </a:r>
            <a:r>
              <a:rPr lang="en-GB" sz="20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(true/false)</a:t>
            </a:r>
            <a:endParaRPr lang="en-US" sz="2000" b="0" strike="noStrike" spc="-1" dirty="0">
              <a:latin typeface="Arial"/>
            </a:endParaRPr>
          </a:p>
          <a:p>
            <a:pPr marL="1256665" lvl="2" indent="-342265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LaunchConfigurationName</a:t>
            </a:r>
            <a:r>
              <a:rPr lang="en-GB" sz="20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bude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práve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vytvorený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 </a:t>
            </a:r>
            <a:r>
              <a:rPr lang="en-GB" sz="2000" b="0" i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PrivateLaunchConfiguration</a:t>
            </a:r>
            <a:endParaRPr lang="en-US" sz="2000" b="0" strike="noStrike" spc="-1" dirty="0" err="1">
              <a:latin typeface="Arial"/>
            </a:endParaRPr>
          </a:p>
          <a:p>
            <a:pPr marL="1256665" lvl="2" indent="-342265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zvyšok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bude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:</a:t>
            </a:r>
            <a:endParaRPr lang="en-US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220" name="CustomShape 3"/>
          <p:cNvSpPr/>
          <p:nvPr/>
        </p:nvSpPr>
        <p:spPr>
          <a:xfrm>
            <a:off x="6865200" y="5029920"/>
            <a:ext cx="4505760" cy="144324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Tags: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  - Key: Project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    Value: </a:t>
            </a: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PrivateInstanceFromASG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    PropagateAtLaunch: true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21" name="CustomShape 4"/>
          <p:cNvSpPr/>
          <p:nvPr/>
        </p:nvSpPr>
        <p:spPr>
          <a:xfrm>
            <a:off x="828000" y="5033160"/>
            <a:ext cx="5475960" cy="144360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MinSize: 2</a:t>
            </a:r>
            <a:br/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MaxSize: 4</a:t>
            </a:r>
            <a:br/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DesiredCapacity: 2</a:t>
            </a:r>
            <a:br/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HealthCheckType: ELB</a:t>
            </a:r>
            <a:br/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DejaVu Sans"/>
              </a:rPr>
              <a:t>HealthCheckGracePeriod: 60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:p15="http://schemas.microsoft.com/office/powerpoint/2012/main" xmlns="">
      <p:transition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828000" y="288000"/>
            <a:ext cx="7842960" cy="3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marL="936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</a:rPr>
              <a:t>AWS CloudFormation – EC2 instances &amp; EC2 autoscaling &amp; load balancing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23" name="CustomShape 2"/>
          <p:cNvSpPr/>
          <p:nvPr/>
        </p:nvSpPr>
        <p:spPr>
          <a:xfrm>
            <a:off x="482760" y="986760"/>
            <a:ext cx="11041560" cy="525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Úloha 9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aktualizujte CF stack s názvom "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ec2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" a pridajte:</a:t>
            </a:r>
            <a:endParaRPr lang="en-US" sz="2000" b="0" strike="noStrike" spc="-1">
              <a:latin typeface="Arial"/>
            </a:endParaRPr>
          </a:p>
          <a:p>
            <a:pPr marL="799560" lvl="1" indent="-342360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PrivateTargetGroup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(AWS::ElasticLoadBalancingV2::TargetGroup)</a:t>
            </a:r>
            <a:endParaRPr lang="en-US" sz="2000" b="0" strike="noStrike" spc="-1">
              <a:latin typeface="Arial"/>
            </a:endParaRPr>
          </a:p>
          <a:p>
            <a:pPr marL="1256760" lvl="2" indent="-342360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predstavuje backend cieľové body pre load-balancers (inštancie, scaling groups, …)</a:t>
            </a:r>
            <a:endParaRPr lang="en-US" sz="2000" b="0" strike="noStrike" spc="-1">
              <a:latin typeface="Arial"/>
            </a:endParaRPr>
          </a:p>
          <a:p>
            <a:pPr marL="799560" lvl="1" indent="-342360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doplňte do ASG property 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TargetGroupARNs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s odkazom na 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PrivateTargetGroup 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224" name="CustomShape 3"/>
          <p:cNvSpPr/>
          <p:nvPr/>
        </p:nvSpPr>
        <p:spPr>
          <a:xfrm>
            <a:off x="828000" y="2950200"/>
            <a:ext cx="10353960" cy="3638160"/>
          </a:xfrm>
          <a:prstGeom prst="rect">
            <a:avLst/>
          </a:prstGeom>
          <a:solidFill>
            <a:schemeClr val="tx2">
              <a:lumMod val="10000"/>
            </a:schemeClr>
          </a:solidFill>
          <a:ln w="12600">
            <a:solidFill>
              <a:schemeClr val="bg1">
                <a:lumMod val="75000"/>
                <a:lumOff val="25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VpcId: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  Fn::ImportValue: !Sub "${NetworkStackName}-VpcId"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Protocol: HTTP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Port: 80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HealthCheckProtocol: HTTP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HealthCheckPort: 80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HealthCheckPath: '/index.html'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HealthCheckIntervalSeconds: 20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HealthCheckTimeoutSeconds: 10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HealthyThresholdCount: 2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UnhealthyThresholdCount: 3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Matcher: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  HttpCode: 200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:p15="http://schemas.microsoft.com/office/powerpoint/2012/main" xmlns="">
      <p:transition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CustomShape 1"/>
          <p:cNvSpPr/>
          <p:nvPr/>
        </p:nvSpPr>
        <p:spPr>
          <a:xfrm>
            <a:off x="828000" y="288000"/>
            <a:ext cx="7842960" cy="3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marL="936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</a:rPr>
              <a:t>AWS CloudFormation – EC2 instances &amp; EC2 autoscaling &amp; load balancing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26" name="CustomShape 2"/>
          <p:cNvSpPr/>
          <p:nvPr/>
        </p:nvSpPr>
        <p:spPr>
          <a:xfrm>
            <a:off x="482760" y="986760"/>
            <a:ext cx="11041560" cy="708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Úloha 10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aktualizujte CF stack s názvom "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ec2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" a pridajte:</a:t>
            </a:r>
            <a:endParaRPr lang="en-US" sz="2000" b="0" strike="noStrike" spc="-1">
              <a:latin typeface="Arial"/>
            </a:endParaRPr>
          </a:p>
          <a:p>
            <a:pPr marL="799560" lvl="1" indent="-342360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PublicApplicationLoadBalancer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(AWS::ElasticLoadBalancingV2::LoadBalancer)</a:t>
            </a:r>
            <a:endParaRPr lang="en-US" sz="2000" b="0" strike="noStrike" spc="-1">
              <a:latin typeface="Arial"/>
            </a:endParaRPr>
          </a:p>
          <a:p>
            <a:pPr marL="1256760" lvl="2" indent="-342360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nový vstupný bod k privátnym serverom (ALB má public IPs)</a:t>
            </a:r>
            <a:endParaRPr lang="en-US" sz="2000" b="0" strike="noStrike" spc="-1">
              <a:latin typeface="Arial"/>
            </a:endParaRPr>
          </a:p>
          <a:p>
            <a:pPr marL="1256760" lvl="2" indent="-342360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použite všetky 3 subnets (ABC) a public SG</a:t>
            </a:r>
            <a:endParaRPr lang="en-US" sz="2000" b="0" strike="noStrike" spc="-1">
              <a:latin typeface="Arial"/>
            </a:endParaRPr>
          </a:p>
          <a:p>
            <a:pPr marL="799560" lvl="1" indent="-342360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PublicALBListenerHTTP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(AWS::ElasticLoadBalancingV2::Listener)</a:t>
            </a:r>
            <a:endParaRPr lang="en-US" sz="2000" b="0" strike="noStrike" spc="-1">
              <a:latin typeface="Arial"/>
            </a:endParaRPr>
          </a:p>
          <a:p>
            <a:pPr marL="1256760" lvl="2" indent="-342360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zadajte 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Protocol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aj 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Port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a zlinkujte s 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PublicApplicationLoadBalancer</a:t>
            </a:r>
            <a:endParaRPr lang="en-US" sz="2000" b="0" strike="noStrike" spc="-1">
              <a:latin typeface="Arial"/>
            </a:endParaRPr>
          </a:p>
          <a:p>
            <a:pPr marL="1256760" lvl="2" indent="-342360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DefaultActions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 bude jednoduchý </a:t>
            </a:r>
            <a:r>
              <a:rPr lang="en-GB" sz="2000" b="0" i="1" strike="noStrike" spc="-1">
                <a:solidFill>
                  <a:srgbClr val="FFFFFF"/>
                </a:solidFill>
                <a:latin typeface="Arial"/>
                <a:ea typeface="Arial"/>
              </a:rPr>
              <a:t>forward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na našu 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PrivateTargetGroup</a:t>
            </a:r>
            <a:endParaRPr lang="en-US" sz="2000" b="0" strike="noStrike" spc="-1">
              <a:latin typeface="Arial"/>
            </a:endParaRPr>
          </a:p>
          <a:p>
            <a:pPr marL="1256760" lvl="2" indent="-342360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ďalšie pravidlá nad rámec DefaultActions možete robiť pomocou</a:t>
            </a:r>
            <a:r>
              <a:rPr lang="en-GB" sz="2000" b="1" strike="noStrike" spc="-1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jedného alebo aj viacerých </a:t>
            </a:r>
            <a:r>
              <a:rPr lang="en-GB" sz="2000" b="0" i="1" strike="noStrike" spc="-1">
                <a:solidFill>
                  <a:srgbClr val="FFFFFF"/>
                </a:solidFill>
                <a:latin typeface="Arial"/>
                <a:ea typeface="Arial"/>
              </a:rPr>
              <a:t>AWS::ElasticLoadBalancingV2::ListenerRule</a:t>
            </a:r>
            <a:r>
              <a:rPr lang="en-GB" sz="2000" b="0" strike="noStrike" spc="-1">
                <a:solidFill>
                  <a:srgbClr val="FFFFFF"/>
                </a:solidFill>
                <a:latin typeface="Arial"/>
                <a:ea typeface="Arial"/>
              </a:rPr>
              <a:t> (header based, host based, path based, …)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227" name="CustomShape 3"/>
          <p:cNvSpPr/>
          <p:nvPr/>
        </p:nvSpPr>
        <p:spPr>
          <a:xfrm>
            <a:off x="658440" y="4871520"/>
            <a:ext cx="3860640" cy="894960"/>
          </a:xfrm>
          <a:prstGeom prst="rect">
            <a:avLst/>
          </a:prstGeom>
          <a:solidFill>
            <a:schemeClr val="tx2">
              <a:lumMod val="10000"/>
            </a:schemeClr>
          </a:solidFill>
          <a:ln w="12600">
            <a:solidFill>
              <a:schemeClr val="bg1">
                <a:lumMod val="75000"/>
                <a:lumOff val="25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 Type: application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 Scheme: internet-facing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 IpAddressType: ipv4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28" name="CustomShape 4"/>
          <p:cNvSpPr/>
          <p:nvPr/>
        </p:nvSpPr>
        <p:spPr>
          <a:xfrm>
            <a:off x="4892040" y="4526280"/>
            <a:ext cx="6589440" cy="1717560"/>
          </a:xfrm>
          <a:prstGeom prst="rect">
            <a:avLst/>
          </a:prstGeom>
          <a:solidFill>
            <a:schemeClr val="tx2">
              <a:lumMod val="10000"/>
            </a:schemeClr>
          </a:solidFill>
          <a:ln w="12600">
            <a:solidFill>
              <a:schemeClr val="bg1">
                <a:lumMod val="75000"/>
                <a:lumOff val="25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DefaultActions: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  - Type: forward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    ForwardConfig: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      TargetGroups: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onsolas"/>
                <a:ea typeface="Arial"/>
              </a:rPr>
              <a:t>        - TargetGroupArn: !Ref PrivateTargetGroup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:p15="http://schemas.microsoft.com/office/powerpoint/2012/main" xmlns="">
      <p:transition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1"/>
          <p:cNvSpPr/>
          <p:nvPr/>
        </p:nvSpPr>
        <p:spPr>
          <a:xfrm>
            <a:off x="828000" y="288000"/>
            <a:ext cx="7842960" cy="3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marL="936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</a:rPr>
              <a:t>AWS CloudFormation – EC2 instances &amp; EC2 autoscaling &amp; load balancing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30" name="CustomShape 2"/>
          <p:cNvSpPr/>
          <p:nvPr/>
        </p:nvSpPr>
        <p:spPr>
          <a:xfrm>
            <a:off x="482760" y="986760"/>
            <a:ext cx="11041560" cy="6779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Úloha</a:t>
            </a:r>
            <a:r>
              <a:rPr lang="en-GB" sz="20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11</a:t>
            </a:r>
            <a:endParaRPr lang="en-US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342900" indent="-342265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otestujte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pripojenie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na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náš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server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pomocou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public DNS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mena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nášho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public ALB (</a:t>
            </a:r>
            <a:r>
              <a:rPr lang="en-GB" sz="20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AWS Console -&gt; EC2 -&gt; Load Balancers -&gt; </a:t>
            </a:r>
            <a:r>
              <a:rPr lang="en-GB" sz="20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náš</a:t>
            </a:r>
            <a:r>
              <a:rPr lang="en-GB" sz="20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ALB -&gt; DNS name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)</a:t>
            </a:r>
            <a:endParaRPr lang="en-US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342900" indent="-342265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URL path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bude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1" i="1" strike="noStrike" spc="-1" dirty="0">
                <a:solidFill>
                  <a:srgbClr val="FFFFFF"/>
                </a:solidFill>
                <a:latin typeface="Arial"/>
                <a:ea typeface="Arial"/>
              </a:rPr>
              <a:t>/</a:t>
            </a:r>
            <a:r>
              <a:rPr lang="en-GB" sz="2000" b="1" i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mompopcafe</a:t>
            </a:r>
            <a:r>
              <a:rPr lang="en-GB" sz="2000" b="1" i="1" strike="noStrike" spc="-1" dirty="0">
                <a:solidFill>
                  <a:srgbClr val="FFFFFF"/>
                </a:solidFill>
                <a:latin typeface="Arial"/>
                <a:ea typeface="Arial"/>
              </a:rPr>
              <a:t>/</a:t>
            </a:r>
            <a:r>
              <a:rPr lang="en-GB" sz="2000" b="1" i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index.php</a:t>
            </a:r>
            <a:endParaRPr lang="en-US" sz="2000" b="0" strike="noStrike" spc="-1" dirty="0" err="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342900" indent="-342265">
              <a:lnSpc>
                <a:spcPct val="100000"/>
              </a:lnSpc>
              <a:buClr>
                <a:srgbClr val="FFFFFF"/>
              </a:buClr>
              <a:buFont typeface="Arial,Sans-Serif"/>
              <a:buChar char="•"/>
            </a:pP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refresh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stránky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spôsobí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,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že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budeme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presmerovaní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na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druhú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inštanciu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(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viď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. Server Info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na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stránke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) -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implicitne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LB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distribuuje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požiadavky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na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inštancie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štýlom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"round-robin</a:t>
            </a:r>
            <a:r>
              <a:rPr lang="en-GB" sz="2000" spc="-1" dirty="0">
                <a:solidFill>
                  <a:srgbClr val="FFFFFF"/>
                </a:solidFill>
                <a:latin typeface="Arial"/>
                <a:ea typeface="Arial"/>
              </a:rPr>
              <a:t>",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spc="-1" dirty="0" err="1">
                <a:solidFill>
                  <a:srgbClr val="FFFFFF"/>
                </a:solidFill>
                <a:latin typeface="Arial"/>
                <a:ea typeface="Arial"/>
              </a:rPr>
              <a:t>ak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nemáme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zapnutú</a:t>
            </a:r>
            <a:r>
              <a:rPr lang="en-GB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"sticky-sessions"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funkcionalitu</a:t>
            </a:r>
            <a:endParaRPr lang="en-US" sz="2000" b="0" strike="noStrike" spc="-1" dirty="0" err="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:p15="http://schemas.microsoft.com/office/powerpoint/2012/main" xmlns="">
      <p:transition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CustomShape 1"/>
          <p:cNvSpPr/>
          <p:nvPr/>
        </p:nvSpPr>
        <p:spPr>
          <a:xfrm>
            <a:off x="828000" y="288000"/>
            <a:ext cx="7842960" cy="3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marL="936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</a:rPr>
              <a:t>AWS CloudFormation – EC2 instances &amp; EC2 autoscaling &amp; load balancing</a:t>
            </a:r>
            <a:endParaRPr lang="en-US" sz="1100" b="0" strike="noStrike" spc="-1">
              <a:latin typeface="Arial"/>
            </a:endParaRPr>
          </a:p>
        </p:txBody>
      </p:sp>
      <p:pic>
        <p:nvPicPr>
          <p:cNvPr id="232" name="Picture 5"/>
          <p:cNvPicPr/>
          <p:nvPr/>
        </p:nvPicPr>
        <p:blipFill>
          <a:blip r:embed="rId2"/>
          <a:stretch/>
        </p:blipFill>
        <p:spPr>
          <a:xfrm>
            <a:off x="673560" y="1000800"/>
            <a:ext cx="7236360" cy="5656680"/>
          </a:xfrm>
          <a:prstGeom prst="rect">
            <a:avLst/>
          </a:prstGeom>
          <a:ln>
            <a:noFill/>
          </a:ln>
        </p:spPr>
      </p:pic>
      <p:sp>
        <p:nvSpPr>
          <p:cNvPr id="233" name="CustomShape 2"/>
          <p:cNvSpPr/>
          <p:nvPr/>
        </p:nvSpPr>
        <p:spPr>
          <a:xfrm>
            <a:off x="8298360" y="1160280"/>
            <a:ext cx="3530520" cy="52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216000" bIns="36000">
            <a:spAutoFit/>
          </a:bodyPr>
          <a:lstStyle/>
          <a:p>
            <a:pPr marL="285840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príklad pre prípad, kedy ASG DesiredCapacity = </a:t>
            </a:r>
            <a:r>
              <a:rPr lang="en-GB" sz="1800" b="1" strike="noStrike" spc="-1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r>
              <a:rPr lang="en-GB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 (v AZ </a:t>
            </a:r>
            <a:r>
              <a:rPr lang="en-GB" sz="1800" b="0" i="1" strike="noStrike" spc="-1">
                <a:solidFill>
                  <a:srgbClr val="FFFFFF"/>
                </a:solidFill>
                <a:latin typeface="Arial"/>
                <a:ea typeface="DejaVu Sans"/>
              </a:rPr>
              <a:t>A</a:t>
            </a:r>
            <a:r>
              <a:rPr lang="en-GB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 a </a:t>
            </a:r>
            <a:r>
              <a:rPr lang="en-GB" sz="1800" b="0" i="1" strike="noStrike" spc="-1">
                <a:solidFill>
                  <a:srgbClr val="FFFFFF"/>
                </a:solidFill>
                <a:latin typeface="Arial"/>
                <a:ea typeface="DejaVu Sans"/>
              </a:rPr>
              <a:t>B</a:t>
            </a:r>
            <a:r>
              <a:rPr lang="en-GB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)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marL="285840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Public ALB má v každej public subnet svoje sieťové rozhranie (</a:t>
            </a:r>
            <a:r>
              <a:rPr lang="en-GB" sz="1800" b="1" strike="noStrike" spc="-1">
                <a:solidFill>
                  <a:srgbClr val="FFFFFF"/>
                </a:solidFill>
                <a:latin typeface="Arial"/>
                <a:ea typeface="DejaVu Sans"/>
              </a:rPr>
              <a:t>ENI </a:t>
            </a:r>
            <a:r>
              <a:rPr lang="en-GB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– Elastic Network Interface)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marL="285840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ALB sa na dané inštancie pozerá ako na Target Group (pozn. TG nie je vyznačená na obrázku)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marL="285840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ASG sme však prepojili s danou TG, čiže zmena stavu, resp. rozmiestnenia inštancií v ASG sa premietne dynamicky aj v TG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:p15="http://schemas.microsoft.com/office/powerpoint/2012/main" xmlns="">
      <p:transition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:p15="http://schemas.microsoft.com/office/powerpoint/2012/main" xmlns="">
      <p:transition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2322B"/>
      </a:dk2>
      <a:lt2>
        <a:srgbClr val="F8FAFB"/>
      </a:lt2>
      <a:accent1>
        <a:srgbClr val="00C08A"/>
      </a:accent1>
      <a:accent2>
        <a:srgbClr val="00AE8D"/>
      </a:accent2>
      <a:accent3>
        <a:srgbClr val="33FF99"/>
      </a:accent3>
      <a:accent4>
        <a:srgbClr val="DBFE53"/>
      </a:accent4>
      <a:accent5>
        <a:srgbClr val="CFC4FB"/>
      </a:accent5>
      <a:accent6>
        <a:srgbClr val="ABB5BD"/>
      </a:accent6>
      <a:hlink>
        <a:srgbClr val="00C08A"/>
      </a:hlink>
      <a:folHlink>
        <a:srgbClr val="00AE8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2322B"/>
      </a:dk2>
      <a:lt2>
        <a:srgbClr val="F8FAFB"/>
      </a:lt2>
      <a:accent1>
        <a:srgbClr val="00C08A"/>
      </a:accent1>
      <a:accent2>
        <a:srgbClr val="00AE8D"/>
      </a:accent2>
      <a:accent3>
        <a:srgbClr val="33FF99"/>
      </a:accent3>
      <a:accent4>
        <a:srgbClr val="DBFE53"/>
      </a:accent4>
      <a:accent5>
        <a:srgbClr val="CFC4FB"/>
      </a:accent5>
      <a:accent6>
        <a:srgbClr val="ABB5BD"/>
      </a:accent6>
      <a:hlink>
        <a:srgbClr val="00C08A"/>
      </a:hlink>
      <a:folHlink>
        <a:srgbClr val="00AE8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2322B"/>
      </a:dk2>
      <a:lt2>
        <a:srgbClr val="F8FAFB"/>
      </a:lt2>
      <a:accent1>
        <a:srgbClr val="00C08A"/>
      </a:accent1>
      <a:accent2>
        <a:srgbClr val="00AE8D"/>
      </a:accent2>
      <a:accent3>
        <a:srgbClr val="33FF99"/>
      </a:accent3>
      <a:accent4>
        <a:srgbClr val="DBFE53"/>
      </a:accent4>
      <a:accent5>
        <a:srgbClr val="CFC4FB"/>
      </a:accent5>
      <a:accent6>
        <a:srgbClr val="ABB5BD"/>
      </a:accent6>
      <a:hlink>
        <a:srgbClr val="00C08A"/>
      </a:hlink>
      <a:folHlink>
        <a:srgbClr val="00AE8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2322B"/>
      </a:dk2>
      <a:lt2>
        <a:srgbClr val="F8FAFB"/>
      </a:lt2>
      <a:accent1>
        <a:srgbClr val="00C08A"/>
      </a:accent1>
      <a:accent2>
        <a:srgbClr val="00AE8D"/>
      </a:accent2>
      <a:accent3>
        <a:srgbClr val="33FF99"/>
      </a:accent3>
      <a:accent4>
        <a:srgbClr val="DBFE53"/>
      </a:accent4>
      <a:accent5>
        <a:srgbClr val="CFC4FB"/>
      </a:accent5>
      <a:accent6>
        <a:srgbClr val="ABB5BD"/>
      </a:accent6>
      <a:hlink>
        <a:srgbClr val="00C08A"/>
      </a:hlink>
      <a:folHlink>
        <a:srgbClr val="00AE8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2322B"/>
      </a:dk2>
      <a:lt2>
        <a:srgbClr val="F8FAFB"/>
      </a:lt2>
      <a:accent1>
        <a:srgbClr val="00C08A"/>
      </a:accent1>
      <a:accent2>
        <a:srgbClr val="00AE8D"/>
      </a:accent2>
      <a:accent3>
        <a:srgbClr val="33FF99"/>
      </a:accent3>
      <a:accent4>
        <a:srgbClr val="DBFE53"/>
      </a:accent4>
      <a:accent5>
        <a:srgbClr val="CFC4FB"/>
      </a:accent5>
      <a:accent6>
        <a:srgbClr val="ABB5BD"/>
      </a:accent6>
      <a:hlink>
        <a:srgbClr val="00C08A"/>
      </a:hlink>
      <a:folHlink>
        <a:srgbClr val="00AE8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Microsoft Office PowerPoint</Application>
  <PresentationFormat>Widescreen</PresentationFormat>
  <Slides>17</Slides>
  <Notes>1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Attila Miklós</dc:creator>
  <dc:description/>
  <cp:lastModifiedBy/>
  <cp:revision>568</cp:revision>
  <dcterms:created xsi:type="dcterms:W3CDTF">2023-01-09T14:10:55Z</dcterms:created>
  <dcterms:modified xsi:type="dcterms:W3CDTF">2026-02-26T16:26:27Z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0x010100D7FF1C9254436E4585AF972A0641CC13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Notes">
    <vt:i4>1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17</vt:i4>
  </property>
</Properties>
</file>